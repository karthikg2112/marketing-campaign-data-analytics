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03116-E1D9-388A-1AE4-1585F1692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59039-49DD-B347-DD8D-C9D3EF705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14D42-7405-BCD5-2A83-655CBFEB8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D6F-93F0-45EF-A15D-2C108A427E32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2C664-DE30-74FD-AB80-BD5C77B53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33782-2D8B-5716-0799-782137FC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5E3B5-3CB8-4D0A-A67F-DC94F3EEE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11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6EB75-2A11-932F-5F98-8788CA13C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A0BE9-EECA-C8D7-88BD-684C06BB6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2023-8608-7981-DB4D-4A672E73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D6F-93F0-45EF-A15D-2C108A427E32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B6BB1-C383-5208-EEEA-A9C2D2202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32F0-C5FE-35F4-0CA0-B85B6F1E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5E3B5-3CB8-4D0A-A67F-DC94F3EEE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818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0C91A-649C-63CE-8B6F-EE84600C8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AB538-BF75-7EF8-E276-6CA388FC4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6EC37-41DE-B89D-0387-FBD3B71E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D6F-93F0-45EF-A15D-2C108A427E32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AE636-0436-5B0B-EE88-0F647C87F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6D5C6-7C5B-1A9C-CD14-9DBA2A36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5E3B5-3CB8-4D0A-A67F-DC94F3EEE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20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22B6E-ACDB-9DC0-776A-10268AF78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003AA-6C64-D260-B15F-C1AB15DC6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3B06D-A016-5297-A6EA-99A5991BF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B66BF-C919-6400-C8E7-B6FF8854D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D6F-93F0-45EF-A15D-2C108A427E32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A0B6C-F7E6-9A19-9FA9-43A40D1EB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E5985-50EE-D452-601C-24687F97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5E3B5-3CB8-4D0A-A67F-DC94F3EEE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093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5CC7-49D5-0552-52CB-4F9E351D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5F2FD-EDE0-A29C-C6E9-FFD8E561B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70AAB-4C53-CA95-5EE4-5693F5E36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B09E0-BAB6-6747-633F-4F53DAA0F6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69BCC-A08A-B459-8346-04B541D1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EB488E-4152-D43E-8E24-3AEAC3D5C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D6F-93F0-45EF-A15D-2C108A427E32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B62E97-6C31-7348-416D-B38D21BC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106561-FB07-F978-2DF2-365B7571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5E3B5-3CB8-4D0A-A67F-DC94F3EEE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40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57699-7568-AC88-AE92-BC59D97EC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BA75FB-982A-E926-5F38-9C4087DEB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D6F-93F0-45EF-A15D-2C108A427E32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7E08D-1400-4F90-BA80-0E7D920EE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5BEBD-DFA3-7A0A-2C72-50EFC07A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5E3B5-3CB8-4D0A-A67F-DC94F3EEE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809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17DCC7-AFB5-1D1A-494A-59CA0FD41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D6F-93F0-45EF-A15D-2C108A427E32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43C13F-63B6-4C8B-667C-1A59BA36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5C9E6-E053-F0B6-841A-099D63991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5E3B5-3CB8-4D0A-A67F-DC94F3EEE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035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81CDA-58BF-DAFA-3862-7CCB7126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B5043-F53B-8A4D-2CF1-C6DC10922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86254-2E99-AAB0-8DDF-094C62824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457BD-A2DA-A505-732D-D8C22BC58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D6F-93F0-45EF-A15D-2C108A427E32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78A29-0636-A5FA-0682-A5793BBA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1C333-C8C1-0DA7-9E1B-60127C15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5E3B5-3CB8-4D0A-A67F-DC94F3EEE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73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5395-3AD4-62A3-1D3C-F06743040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AE69A-5AC7-3FD8-FC5D-4644491B2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65185-757A-F0DD-0283-BC89C9E6A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47BC1-5E1C-8079-85F2-2C43743BF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D6F-93F0-45EF-A15D-2C108A427E32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8CBCA-5CBB-B3EE-9155-919CC108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D6AEE-F278-1957-4AB3-280CC9A1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5E3B5-3CB8-4D0A-A67F-DC94F3EEE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162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D4C95-EBC5-A2C4-8173-4C1F6D732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5620A-4202-217B-632B-7B591460A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6EA90-22E3-AF87-A781-EF082D20D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D6F-93F0-45EF-A15D-2C108A427E32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D2249-7607-7358-5EC0-328E13D48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5E29B-36B3-4CF2-FCA8-3EB1AACB6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5E3B5-3CB8-4D0A-A67F-DC94F3EEE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98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CF9C5-0EB6-5E2A-DC70-BD345D2ACE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B0E02-3DC0-2F4E-C3F5-3F2AF03EC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707EB-FCBF-9459-4F26-815FEAC38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2D6F-93F0-45EF-A15D-2C108A427E32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E2AF6-0ACF-834D-2F76-8C562F22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B2E93-D750-7D4B-174F-C0A7C583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5E3B5-3CB8-4D0A-A67F-DC94F3EEE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855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0DE07-98DE-FD3A-AED6-2E2670F21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D0D0-2634-4114-B157-74EC910C9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99124-852F-8AE7-B72F-B3E83F819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B2D6F-93F0-45EF-A15D-2C108A427E32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C22D0-A3AD-CD8E-BFA6-0FF0A04C6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56557-E860-EB06-8A84-3EC2E40FC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5E3B5-3CB8-4D0A-A67F-DC94F3EEE7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01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5BD8-805D-BBEB-98EA-9AD20996F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Campaign – Data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AC420-C2CC-5DAD-D8DC-90F848F5C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dirty="0"/>
              <a:t>Data Quality:</a:t>
            </a:r>
            <a:r>
              <a:rPr lang="en-IN" dirty="0"/>
              <a:t> The raw data contained no null values or major outliers.</a:t>
            </a:r>
          </a:p>
          <a:p>
            <a:pPr lvl="0"/>
            <a:r>
              <a:rPr lang="en-IN" b="1" dirty="0"/>
              <a:t>Preprocessing:</a:t>
            </a:r>
            <a:r>
              <a:rPr lang="en-IN" dirty="0"/>
              <a:t> Data was processed, cleaned, and segmented in a Google </a:t>
            </a:r>
            <a:r>
              <a:rPr lang="en-IN" dirty="0" err="1"/>
              <a:t>Colab</a:t>
            </a:r>
            <a:r>
              <a:rPr lang="en-IN" dirty="0"/>
              <a:t> notebook.</a:t>
            </a:r>
          </a:p>
          <a:p>
            <a:pPr lvl="0"/>
            <a:r>
              <a:rPr lang="en-IN" b="1" dirty="0"/>
              <a:t>SQL Implementation:</a:t>
            </a:r>
            <a:r>
              <a:rPr lang="en-IN" dirty="0"/>
              <a:t> SQL queries for predefined functions were segmented within </a:t>
            </a:r>
            <a:r>
              <a:rPr lang="en-IN" dirty="0" err="1"/>
              <a:t>Colab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Power BI Reporting:</a:t>
            </a:r>
            <a:r>
              <a:rPr lang="en-IN" dirty="0"/>
              <a:t> Three pages of visualizations were derived in Power BI:</a:t>
            </a:r>
          </a:p>
          <a:p>
            <a:pPr lvl="1"/>
            <a:r>
              <a:rPr lang="en-IN" dirty="0"/>
              <a:t>Country-based Analysis</a:t>
            </a:r>
          </a:p>
          <a:p>
            <a:pPr lvl="1"/>
            <a:r>
              <a:rPr lang="en-IN" dirty="0"/>
              <a:t>Age-based Analysis</a:t>
            </a:r>
          </a:p>
          <a:p>
            <a:pPr lvl="1"/>
            <a:r>
              <a:rPr lang="en-IN" dirty="0"/>
              <a:t>Overall Analysis</a:t>
            </a:r>
          </a:p>
        </p:txBody>
      </p:sp>
    </p:spTree>
    <p:extLst>
      <p:ext uri="{BB962C8B-B14F-4D97-AF65-F5344CB8AC3E}">
        <p14:creationId xmlns:p14="http://schemas.microsoft.com/office/powerpoint/2010/main" val="3724300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EAD1C5-816E-00EF-53BD-251DB1DE5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94" y="137652"/>
            <a:ext cx="11582400" cy="651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59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87C67-5432-47EC-E524-8CABB950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/>
              <a:t>Country-based Performance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0E13D-1820-EAF8-AE06-494AC43A0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200" b="1" dirty="0"/>
              <a:t>Spain</a:t>
            </a:r>
            <a:r>
              <a:rPr lang="en-IN" sz="2200" dirty="0"/>
              <a:t> emerges as the primary market, leading in both </a:t>
            </a:r>
            <a:r>
              <a:rPr lang="en-IN" sz="2200" b="1" dirty="0"/>
              <a:t>total customer count (16.7K)</a:t>
            </a:r>
            <a:r>
              <a:rPr lang="en-IN" sz="2200" dirty="0"/>
              <a:t> and </a:t>
            </a:r>
            <a:r>
              <a:rPr lang="en-IN" sz="2200" b="1" dirty="0"/>
              <a:t>total spend ($9.0M)</a:t>
            </a:r>
            <a:r>
              <a:rPr lang="en-IN" sz="2200" dirty="0"/>
              <a:t>, followed by Canada and Saudi Arabia.</a:t>
            </a:r>
          </a:p>
          <a:p>
            <a:pPr lvl="0"/>
            <a:r>
              <a:rPr lang="en-IN" sz="2200" b="1" dirty="0"/>
              <a:t>Revenue &amp; Reach:</a:t>
            </a:r>
            <a:r>
              <a:rPr lang="en-IN" sz="2200" dirty="0"/>
              <a:t> The campaign successfully engaged </a:t>
            </a:r>
            <a:r>
              <a:rPr lang="en-IN" sz="2200" b="1" dirty="0"/>
              <a:t>56K total customers</a:t>
            </a:r>
            <a:r>
              <a:rPr lang="en-IN" sz="2200" dirty="0"/>
              <a:t> across </a:t>
            </a:r>
            <a:r>
              <a:rPr lang="en-IN" sz="2200" b="1" dirty="0"/>
              <a:t>8 countries</a:t>
            </a:r>
            <a:r>
              <a:rPr lang="en-IN" sz="2200" dirty="0"/>
              <a:t>, generating a total revenue of </a:t>
            </a:r>
            <a:r>
              <a:rPr lang="en-IN" sz="2200" b="1" dirty="0"/>
              <a:t>$35M</a:t>
            </a:r>
            <a:r>
              <a:rPr lang="en-IN" sz="2200" dirty="0"/>
              <a:t>.</a:t>
            </a:r>
          </a:p>
          <a:p>
            <a:pPr lvl="0"/>
            <a:r>
              <a:rPr lang="en-IN" sz="2200" b="1" dirty="0"/>
              <a:t>Store and Web purchases</a:t>
            </a:r>
            <a:r>
              <a:rPr lang="en-IN" sz="2200" dirty="0"/>
              <a:t> are the dominant channels across all regions.</a:t>
            </a:r>
          </a:p>
          <a:p>
            <a:pPr lvl="1"/>
            <a:r>
              <a:rPr lang="en-IN" sz="2200" b="1" dirty="0"/>
              <a:t>Spain</a:t>
            </a:r>
            <a:r>
              <a:rPr lang="en-IN" sz="2200" dirty="0"/>
              <a:t> shows the highest volume across all purchase types (Catalog, Deal, Store, and Web).</a:t>
            </a:r>
          </a:p>
          <a:p>
            <a:pPr lvl="0"/>
            <a:r>
              <a:rPr lang="en-IN" sz="2200" dirty="0"/>
              <a:t>The Low Spender category makes up the largest segment in most countries, particularly in Spain (52.16%) and Canada (47.97%).</a:t>
            </a:r>
          </a:p>
          <a:p>
            <a:pPr lvl="0"/>
            <a:r>
              <a:rPr lang="en-IN" sz="2200" dirty="0"/>
              <a:t>Over 75% of the customer base maintains "Medium" to "High" web engagement, indicating strong digital campaign resonance.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806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A61A-9180-7EA1-EABA-1E0649637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Growth Opportunity – Country based</a:t>
            </a:r>
            <a:endParaRPr lang="en-IN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E8228-6F4F-2EE5-962E-FCFD564EF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There is a clear correlation between higher average income </a:t>
            </a:r>
            <a:r>
              <a:rPr lang="en-IN" sz="2200" b="1" u="sng" dirty="0"/>
              <a:t>(Australia, Germany)</a:t>
            </a:r>
            <a:r>
              <a:rPr lang="en-IN" sz="2200" dirty="0"/>
              <a:t> and the percentage of high-tier spenders, suggesting premium targeting opportunities in those regions.</a:t>
            </a:r>
          </a:p>
          <a:p>
            <a:r>
              <a:rPr lang="en-IN" sz="2200" dirty="0"/>
              <a:t>Australia have a smaller customer base compared to Spain, they actually lead the pack in </a:t>
            </a:r>
            <a:r>
              <a:rPr lang="en-IN" sz="2200" b="1" dirty="0"/>
              <a:t>Average Income at $66,000</a:t>
            </a:r>
            <a:r>
              <a:rPr lang="en-IN" sz="2200" dirty="0"/>
              <a:t>. More importantly, if you look at the 'Spending Pattern' chart, Australia has the highest percentage of </a:t>
            </a:r>
            <a:r>
              <a:rPr lang="en-IN" sz="2200" b="1" dirty="0"/>
              <a:t>'Very High Spenders' at nearly 38%</a:t>
            </a:r>
            <a:r>
              <a:rPr lang="en-IN" sz="2200" dirty="0"/>
              <a:t>. This suggests that while the volume is lower, the quality of the lead is much higher, </a:t>
            </a:r>
            <a:r>
              <a:rPr lang="en-IN" sz="2200" b="1" dirty="0"/>
              <a:t>offering a massive opportunity for premium product upselling.</a:t>
            </a:r>
          </a:p>
          <a:p>
            <a:r>
              <a:rPr lang="en-IN" sz="2200" i="1" dirty="0"/>
              <a:t>Moving forward, we should look into find more customers in Australia, Germany and the USA who match that high-income, high-spending profile to further boost that $35 million revenue figure.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0954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ECBA81-5071-0E6E-10A8-8DA181066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3" y="88490"/>
            <a:ext cx="11493909" cy="661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7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DFFF-6440-23F0-286C-257CF48CC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Age-based Performance insights</a:t>
            </a:r>
            <a:endParaRPr lang="en-IN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B604A-9E37-BEFD-E086-5C6E9C0F4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dirty="0"/>
              <a:t>The </a:t>
            </a:r>
            <a:r>
              <a:rPr lang="en-IN" sz="2200" b="1" dirty="0"/>
              <a:t>50s</a:t>
            </a:r>
            <a:r>
              <a:rPr lang="en-IN" sz="2200" dirty="0"/>
              <a:t> and </a:t>
            </a:r>
            <a:r>
              <a:rPr lang="en-IN" sz="2200" b="1" dirty="0"/>
              <a:t>40s</a:t>
            </a:r>
            <a:r>
              <a:rPr lang="en-IN" sz="2200" dirty="0"/>
              <a:t> age groups are the campaign's largest contributors, representing </a:t>
            </a:r>
            <a:r>
              <a:rPr lang="en-IN" sz="2200" b="1" dirty="0"/>
              <a:t>16.21K</a:t>
            </a:r>
            <a:r>
              <a:rPr lang="en-IN" sz="2200" dirty="0"/>
              <a:t> and </a:t>
            </a:r>
            <a:r>
              <a:rPr lang="en-IN" sz="2200" b="1" dirty="0"/>
              <a:t>15.61K</a:t>
            </a:r>
            <a:r>
              <a:rPr lang="en-IN" sz="2200" dirty="0"/>
              <a:t> customers, respectively.</a:t>
            </a:r>
          </a:p>
          <a:p>
            <a:r>
              <a:rPr lang="en-IN" sz="2200" dirty="0"/>
              <a:t>Total spending is heavily skewed toward older demographics, with the </a:t>
            </a:r>
            <a:r>
              <a:rPr lang="en-IN" sz="2200" b="1" dirty="0"/>
              <a:t>50s segment leading at $9.7M</a:t>
            </a:r>
            <a:r>
              <a:rPr lang="en-IN" sz="2200" dirty="0"/>
              <a:t>, followed by the 40s ($8.3M) and 60s ($8.1M). These three groups account for the vast majority of the $35M total revenue.</a:t>
            </a:r>
          </a:p>
          <a:p>
            <a:r>
              <a:rPr lang="en-IN" sz="2200" dirty="0"/>
              <a:t>The </a:t>
            </a:r>
            <a:r>
              <a:rPr lang="en-IN" sz="2200" b="1" dirty="0"/>
              <a:t>70s segment has the highest Average Income at $66K, </a:t>
            </a:r>
            <a:r>
              <a:rPr lang="en-IN" sz="2200" dirty="0"/>
              <a:t>While the 50s spend the most in total, the older segments (60s-80s) maintain higher average individual incomes, suggesting a "quality over quantity" customer base in the senior brackets.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7850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0CAD0-F99F-CFC7-E63E-F4EFA514D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Opportunity – Age based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A40CF-A69E-81B1-7504-B42A76752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dirty="0"/>
              <a:t>Interestingly, the </a:t>
            </a:r>
            <a:r>
              <a:rPr lang="en-IN" sz="2200" b="1" dirty="0"/>
              <a:t>30s and 40s segment</a:t>
            </a:r>
            <a:r>
              <a:rPr lang="en-IN" sz="2200" dirty="0"/>
              <a:t> shows the highest "High Engagement" rate at </a:t>
            </a:r>
            <a:r>
              <a:rPr lang="en-IN" sz="2200" b="1" dirty="0"/>
              <a:t>26.65%</a:t>
            </a:r>
            <a:r>
              <a:rPr lang="en-IN" sz="2200" dirty="0"/>
              <a:t>, indicating that younger customers are more active online even if their total spend is currently lower.</a:t>
            </a:r>
          </a:p>
          <a:p>
            <a:pPr lvl="1"/>
            <a:r>
              <a:rPr lang="en-IN" sz="2200" b="1" dirty="0"/>
              <a:t>Providing more Stable UI, offering deals on products in online and suggesting relevant products might increase the revenue figure among 30s and 40s.</a:t>
            </a:r>
          </a:p>
          <a:p>
            <a:r>
              <a:rPr lang="en-IN" sz="2200" dirty="0"/>
              <a:t>While the </a:t>
            </a:r>
            <a:r>
              <a:rPr lang="en-IN" sz="2200" b="1" dirty="0"/>
              <a:t>30s segment</a:t>
            </a:r>
            <a:r>
              <a:rPr lang="en-IN" sz="2200" dirty="0"/>
              <a:t> currently has the lowest spend of our active groups at $2.8M, they are our most digitally active. As this group moves into their peak earning years (the 40s and 50s), we have a prime opportunity to grow with them by maintaining that high digital touchpoint.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5332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5B2740-7990-E534-3339-AC2103DB0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" y="157316"/>
            <a:ext cx="11720052" cy="645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4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5176D-3B44-3154-6420-3E292A59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/>
              <a:t>Overall Performance &amp; Strategic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CAC95-0646-B5B6-6765-D52449DC8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sz="2400" b="1" dirty="0"/>
              <a:t>Meat (43.42%)</a:t>
            </a:r>
            <a:r>
              <a:rPr lang="en-IN" sz="2400" dirty="0"/>
              <a:t> and </a:t>
            </a:r>
            <a:r>
              <a:rPr lang="en-IN" sz="2400" b="1" dirty="0"/>
              <a:t>Wine (39.97%)</a:t>
            </a:r>
            <a:r>
              <a:rPr lang="en-IN" sz="2400" dirty="0"/>
              <a:t> are the primary revenue drivers, accounting for over </a:t>
            </a:r>
            <a:r>
              <a:rPr lang="en-IN" sz="2400" b="1" dirty="0"/>
              <a:t>83% of total sales</a:t>
            </a:r>
            <a:r>
              <a:rPr lang="en-IN" sz="2400" dirty="0"/>
              <a:t>. Fruits, Fish, and Gold represent room for growth.</a:t>
            </a:r>
          </a:p>
          <a:p>
            <a:r>
              <a:rPr lang="en-IN" sz="2400" b="1" dirty="0"/>
              <a:t>Campaign Efficiency:</a:t>
            </a:r>
            <a:r>
              <a:rPr lang="en-IN" sz="2400" dirty="0"/>
              <a:t> </a:t>
            </a:r>
            <a:r>
              <a:rPr lang="en-IN" sz="2400" b="1" dirty="0"/>
              <a:t>Spain</a:t>
            </a:r>
            <a:r>
              <a:rPr lang="en-IN" sz="2400" dirty="0"/>
              <a:t> leads in both campaign volume (4.7K) and engagement (2.2K), maintaining an impressive response rate of nearly </a:t>
            </a:r>
            <a:r>
              <a:rPr lang="en-IN" sz="2400" b="1" dirty="0"/>
              <a:t>47%</a:t>
            </a:r>
            <a:r>
              <a:rPr lang="en-IN" sz="2400" dirty="0"/>
              <a:t>. Canada and Saudi Arabia follow as high-responding secondary markets.</a:t>
            </a:r>
          </a:p>
          <a:p>
            <a:r>
              <a:rPr lang="en-IN" sz="2400" b="1" dirty="0"/>
              <a:t>In-store purchases (35.55%)</a:t>
            </a:r>
            <a:r>
              <a:rPr lang="en-IN" sz="2400" dirty="0"/>
              <a:t> and </a:t>
            </a:r>
            <a:r>
              <a:rPr lang="en-IN" sz="2400" b="1" dirty="0"/>
              <a:t>Web purchases (32.1%)</a:t>
            </a:r>
            <a:r>
              <a:rPr lang="en-IN" sz="2400" dirty="0"/>
              <a:t> are the dominant channels.</a:t>
            </a:r>
          </a:p>
          <a:p>
            <a:r>
              <a:rPr lang="en-IN" sz="2400" dirty="0"/>
              <a:t>The </a:t>
            </a:r>
            <a:r>
              <a:rPr lang="en-IN" sz="2400" b="1" dirty="0"/>
              <a:t>50s and 40s segments</a:t>
            </a:r>
            <a:r>
              <a:rPr lang="en-IN" sz="2400" dirty="0"/>
              <a:t> show the highest digital intent, with </a:t>
            </a:r>
            <a:r>
              <a:rPr lang="en-IN" sz="2400" b="1" dirty="0"/>
              <a:t>68K and 64K monthly web visits</a:t>
            </a:r>
            <a:r>
              <a:rPr lang="en-IN" sz="2400" dirty="0"/>
              <a:t>, respectively. The conversion from "Web Visits" to "Web Purchase" is exceptionally efficient in these age brackets.</a:t>
            </a:r>
          </a:p>
          <a:p>
            <a:r>
              <a:rPr lang="en-IN" sz="2400" b="1" dirty="0"/>
              <a:t>Family Customers</a:t>
            </a:r>
            <a:r>
              <a:rPr lang="en-IN" sz="2400" dirty="0"/>
              <a:t> make up the majority of the base across all age groups, peaking in the </a:t>
            </a:r>
            <a:r>
              <a:rPr lang="en-IN" sz="2400" b="1" dirty="0"/>
              <a:t>90s (75%)</a:t>
            </a:r>
            <a:r>
              <a:rPr lang="en-IN" sz="2400" dirty="0"/>
              <a:t>, </a:t>
            </a:r>
            <a:r>
              <a:rPr lang="en-IN" sz="2400" b="1" dirty="0"/>
              <a:t>30s (74.27%)</a:t>
            </a:r>
            <a:r>
              <a:rPr lang="en-IN" sz="2400" dirty="0"/>
              <a:t>, and </a:t>
            </a:r>
            <a:r>
              <a:rPr lang="en-IN" sz="2400" b="1" dirty="0"/>
              <a:t>40s (72.37%)</a:t>
            </a:r>
            <a:r>
              <a:rPr lang="en-IN" sz="2400" dirty="0"/>
              <a:t> segments. This indicates that marketing should continue to lean into family-oriented value propositions.</a:t>
            </a:r>
          </a:p>
          <a:p>
            <a:endParaRPr lang="en-IN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711597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50B8-99EF-C41A-C9C6-7DD28A5B9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Growth Opportunities</a:t>
            </a:r>
            <a:endParaRPr lang="en-IN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3C3A8-57A5-C390-A7F9-07E149E0D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Organizing more campaigns in countries like Australia, India, Germany, and the USA can boost customer numbers, as the response rates in these regions are high.</a:t>
            </a:r>
          </a:p>
          <a:p>
            <a:r>
              <a:rPr lang="en-IN" sz="2400" dirty="0"/>
              <a:t>Designing a simpler, more user-friendly website UI will likely attract larger customer groups. Since store purchases currently lead, offering web discounts can boost online revenue and reduce reliance on physical store spending.</a:t>
            </a:r>
          </a:p>
          <a:p>
            <a:r>
              <a:rPr lang="en-IN" sz="2400" dirty="0"/>
              <a:t>Data confirms a strong </a:t>
            </a:r>
            <a:r>
              <a:rPr lang="en-IN" sz="2400" b="1" dirty="0"/>
              <a:t>family-centric brand identity</a:t>
            </a:r>
            <a:r>
              <a:rPr lang="en-IN" sz="2400" dirty="0"/>
              <a:t>, with over 60% of customers across all age demographics (30s–90s) identifying as "Family Customers.“</a:t>
            </a:r>
          </a:p>
          <a:p>
            <a:pPr lvl="1"/>
            <a:r>
              <a:rPr lang="en-IN" dirty="0"/>
              <a:t>Prioritizing family-oriented products and tailored discounts will help attract and retain more family-based customers.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117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871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Marketing Campaign – Data Analytics</vt:lpstr>
      <vt:lpstr>PowerPoint Presentation</vt:lpstr>
      <vt:lpstr>Country-based Performance Insights</vt:lpstr>
      <vt:lpstr>Growth Opportunity – Country based</vt:lpstr>
      <vt:lpstr>PowerPoint Presentation</vt:lpstr>
      <vt:lpstr>Age-based Performance insights</vt:lpstr>
      <vt:lpstr>Growth Opportunity – Age based</vt:lpstr>
      <vt:lpstr>PowerPoint Presentation</vt:lpstr>
      <vt:lpstr>Overall Performance &amp; Strategic Insights</vt:lpstr>
      <vt:lpstr>Growth Opportunities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SUPER G2</dc:creator>
  <cp:lastModifiedBy>SUPER G2</cp:lastModifiedBy>
  <cp:revision>1</cp:revision>
  <dcterms:created xsi:type="dcterms:W3CDTF">2026-03-21T13:02:12Z</dcterms:created>
  <dcterms:modified xsi:type="dcterms:W3CDTF">2026-03-21T13:58:21Z</dcterms:modified>
</cp:coreProperties>
</file>